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the foundational engineering practices that separate hobby projects from production-grade systems: automated testing pipelines, containerization with Docker, and cloud deployment with auto-scaling.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deployments are the #1 source of avoidable production incidents. The stats here reflect industry research from DORA (DevOps Research and Assessment)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pillars are interdependent. Testing catches bugs, containers eliminate environment drift, CI/CD automates the release, and Cloud Run handles the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 tests across 5 domains. The integration tests use Testcontainers — a library that spins up real Docker containers for your test database, so you're testing against the exact same MongoDB behavior as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Multi-stage builds are critical for production images. The builder stage has the JDK and Maven — everything needed to compile. The runtime stage has only the JRE and the JAR. Result: a much smaller, more secure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 pipeline is the automated quality gate. Nothing reaches production without passing this gate. Total pipeline time is ~2 minutes, which means developers get feedback within one coffee break of pushing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Run's scale-to-zero is ideal for dev environments — you only pay for actual requests, not idle capacity. Workload Identity Federation is the modern replacement for service account JSON keys, which can be stolen and misused.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not an afterthought — it is built into every layer. The org-level policy that prevented JSON key creation actually forced us to use the more secure Workload Identity Federation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8-step flow happens automatically every time code is pushed. The developer's only job is to write good code and push it. Everything else is automated.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lessons apply to any backend project, not just this one. The specific technologies change — the principles don't.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core message: this isn't magic, it's engineering discipline. Every piece of this stack is learnable, documented, and repeatable.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935A"/>
          </a:solidFill>
          <a:ln w="12700">
            <a:solidFill>
              <a:srgbClr val="B89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Backend Engineering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· Containerization · Cloud Deployment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200400" cy="0"/>
          </a:xfrm>
          <a:prstGeom prst="line">
            <a:avLst/>
          </a:prstGeom>
          <a:noFill/>
          <a:ln w="25400">
            <a:solidFill>
              <a:srgbClr val="B893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modern software teams ship reliably, automatically, and at scale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0"/>
            <a:ext cx="50292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657600"/>
            <a:ext cx="502920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657600"/>
            <a:ext cx="50292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3657600"/>
            <a:ext cx="502920" cy="50292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657600"/>
            <a:ext cx="502920" cy="5029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Overview · Technology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Manual Deployments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9FB0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79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Works on my machine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721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runs locally fails in production due to environment differences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939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 Deployment anxiety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3865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is a manual, stressful event with no rollback plan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0083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No visibility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3009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 gate — bugs reach production before anyone notices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922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 Slow iteration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2153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between code complete and live — competitive disadvantage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2161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754880" y="17099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outages caused by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 errors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377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2450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2–5×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4754880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MTTR without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rollback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611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36850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4754880" y="41788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deployments per day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CI/CD vs without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Engineering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that work together to eliminate manual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920240" cy="3383280"/>
          </a:xfrm>
          <a:prstGeom prst="roundRect">
            <a:avLst>
              <a:gd name="adj" fmla="val 5714"/>
            </a:avLst>
          </a:prstGeom>
          <a:solidFill>
            <a:srgbClr val="15405A"/>
          </a:solidFill>
          <a:ln w="12700">
            <a:solidFill>
              <a:srgbClr val="34506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00200"/>
            <a:ext cx="914400" cy="9144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75564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 change is validated by a full test suite before it can merge or deploy. No human gate needed.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68880" y="1417320"/>
            <a:ext cx="1920240" cy="3383280"/>
          </a:xfrm>
          <a:prstGeom prst="roundRect">
            <a:avLst>
              <a:gd name="adj" fmla="val 5714"/>
            </a:avLst>
          </a:prstGeom>
          <a:solidFill>
            <a:srgbClr val="15405A"/>
          </a:solidFill>
          <a:ln w="12700">
            <a:solidFill>
              <a:srgbClr val="34506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71800" y="1600200"/>
            <a:ext cx="914400" cy="91440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175564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60320" y="310896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packages the app and all its dependencies into a single, portable, reproducible image.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0" y="1417320"/>
            <a:ext cx="1920240" cy="3383280"/>
          </a:xfrm>
          <a:prstGeom prst="roundRect">
            <a:avLst>
              <a:gd name="adj" fmla="val 5714"/>
            </a:avLst>
          </a:prstGeom>
          <a:solidFill>
            <a:srgbClr val="15405A"/>
          </a:solidFill>
          <a:ln w="12700">
            <a:solidFill>
              <a:srgbClr val="34506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74920" y="1600200"/>
            <a:ext cx="914400" cy="914400"/>
          </a:xfrm>
          <a:prstGeom prst="ellipse">
            <a:avLst/>
          </a:prstGeom>
          <a:solidFill>
            <a:srgbClr val="B8935A"/>
          </a:solidFill>
          <a:ln w="12700">
            <a:solidFill>
              <a:srgbClr val="B8935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175564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6344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63440" y="310896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automatically runs tests, builds the container, and deploys on every push to main.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675120" y="1417320"/>
            <a:ext cx="1920240" cy="3383280"/>
          </a:xfrm>
          <a:prstGeom prst="roundRect">
            <a:avLst>
              <a:gd name="adj" fmla="val 5714"/>
            </a:avLst>
          </a:prstGeom>
          <a:solidFill>
            <a:srgbClr val="15405A"/>
          </a:solidFill>
          <a:ln w="12700">
            <a:solidFill>
              <a:srgbClr val="34506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78040" y="1600200"/>
            <a:ext cx="914400" cy="914400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175564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6656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766560" y="310896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container hosting. Zero infrastructure to manage. Auto-scales to zero when idle.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1: Automated Testing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9FB0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14600" y="4389120"/>
            <a:ext cx="1828800" cy="65836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14600" y="4544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  ~5%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00200" y="3685032"/>
            <a:ext cx="3657600" cy="6583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3840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 ~20%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80944"/>
            <a:ext cx="594360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363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 ~75%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Pyramid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014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Tests run on every push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28930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merges without a green test suite — ever.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020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 database in tests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2951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spins up a real MongoDB container per test run. No mocks for persistence — test what you actually ship.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026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Singleton container pattern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30098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 shared across all test classes prevents stale context bugs and keeps test runs fast.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977640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4032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Millisecond precision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43068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truncates Instant to ms — assertions use isCloseTo(), not isEqualTo(). Real-world details matter.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2: Containerization with Docker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B893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15405A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Builder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eclipse-temurin:21-jdk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Maven + dependencies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Compile source 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Package fat JAR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15405A"/>
          </a:solidFill>
          <a:ln w="25400">
            <a:solidFill>
              <a:srgbClr val="2E7D5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Runtime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eclipse-temurin:21-jre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Non-root user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Copy JAR only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246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JVM tuning flags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60520" y="2606040"/>
            <a:ext cx="365760" cy="0"/>
          </a:xfrm>
          <a:prstGeom prst="line">
            <a:avLst/>
          </a:prstGeom>
          <a:noFill/>
          <a:ln w="38100">
            <a:solidFill>
              <a:srgbClr val="B893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935A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1993392" cy="685800"/>
          </a:xfrm>
          <a:prstGeom prst="roundRect">
            <a:avLst>
              <a:gd name="adj" fmla="val 10667"/>
            </a:avLst>
          </a:prstGeom>
          <a:solidFill>
            <a:srgbClr val="345066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40740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 runs identically on every machine and every environment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06040" y="4343400"/>
            <a:ext cx="1993392" cy="685800"/>
          </a:xfrm>
          <a:prstGeom prst="roundRect">
            <a:avLst>
              <a:gd name="adj" fmla="val 10667"/>
            </a:avLst>
          </a:prstGeom>
          <a:solidFill>
            <a:srgbClr val="345066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440740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46634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user, minimal JRE (not JDK), no build tools in production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4343400"/>
            <a:ext cx="1993392" cy="685800"/>
          </a:xfrm>
          <a:prstGeom prst="roundRect">
            <a:avLst>
              <a:gd name="adj" fmla="val 10667"/>
            </a:avLst>
          </a:prstGeom>
          <a:solidFill>
            <a:srgbClr val="345066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40740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46634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layer cached — source changes don't re-download all deps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03720" y="4343400"/>
            <a:ext cx="1993392" cy="685800"/>
          </a:xfrm>
          <a:prstGeom prst="roundRect">
            <a:avLst>
              <a:gd name="adj" fmla="val 10667"/>
            </a:avLst>
          </a:prstGeom>
          <a:solidFill>
            <a:srgbClr val="345066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440740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95160" y="46634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any registry, deploy to any container platform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3: CI Pipeline (GitHub Actions)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9FB0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1005840" cy="1005840"/>
          </a:xfrm>
          <a:prstGeom prst="ellipse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29844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" y="21762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98448" y="1554480"/>
            <a:ext cx="402336" cy="0"/>
          </a:xfrm>
          <a:prstGeom prst="line">
            <a:avLst/>
          </a:prstGeom>
          <a:noFill/>
          <a:ln w="25400">
            <a:solidFill>
              <a:srgbClr val="9FB0B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19072" y="1051560"/>
            <a:ext cx="1005840" cy="100584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298448"/>
            <a:ext cx="512064" cy="512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81912" y="21762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743200" y="1554480"/>
            <a:ext cx="402336" cy="0"/>
          </a:xfrm>
          <a:prstGeom prst="line">
            <a:avLst/>
          </a:prstGeom>
          <a:noFill/>
          <a:ln w="25400">
            <a:solidFill>
              <a:srgbClr val="9FB0B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163824" y="1051560"/>
            <a:ext cx="1005840" cy="10058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1298448"/>
            <a:ext cx="512064" cy="5120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26664" y="21762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187952" y="1554480"/>
            <a:ext cx="402336" cy="0"/>
          </a:xfrm>
          <a:prstGeom prst="line">
            <a:avLst/>
          </a:prstGeom>
          <a:noFill/>
          <a:ln w="25400">
            <a:solidFill>
              <a:srgbClr val="9FB0B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608576" y="1051560"/>
            <a:ext cx="1005840" cy="100584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1298448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471416" y="21762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632704" y="1554480"/>
            <a:ext cx="402336" cy="0"/>
          </a:xfrm>
          <a:prstGeom prst="line">
            <a:avLst/>
          </a:prstGeom>
          <a:noFill/>
          <a:ln w="25400">
            <a:solidFill>
              <a:srgbClr val="9FB0B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053328" y="1051560"/>
            <a:ext cx="1005840" cy="10058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298448"/>
            <a:ext cx="512064" cy="5120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916168" y="21762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7077456" y="1554480"/>
            <a:ext cx="402336" cy="0"/>
          </a:xfrm>
          <a:prstGeom prst="line">
            <a:avLst/>
          </a:prstGeom>
          <a:noFill/>
          <a:ln w="25400">
            <a:solidFill>
              <a:srgbClr val="9FB0B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498080" y="1051560"/>
            <a:ext cx="1005840" cy="1005840"/>
          </a:xfrm>
          <a:prstGeom prst="ellipse">
            <a:avLst/>
          </a:prstGeom>
          <a:solidFill>
            <a:srgbClr val="B8935A"/>
          </a:solidFill>
          <a:ln w="12700">
            <a:solidFill>
              <a:srgbClr val="B893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968" y="1298448"/>
            <a:ext cx="512064" cy="51206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360920" y="21762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365760" y="2834640"/>
            <a:ext cx="39319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8" name="Text 20"/>
          <p:cNvSpPr/>
          <p:nvPr/>
        </p:nvSpPr>
        <p:spPr>
          <a:xfrm>
            <a:off x="502920" y="2898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02920" y="3145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push to main AND every pull request — catching bugs before they merge.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365760" y="3584448"/>
            <a:ext cx="39319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1" name="Text 23"/>
          <p:cNvSpPr/>
          <p:nvPr/>
        </p:nvSpPr>
        <p:spPr>
          <a:xfrm>
            <a:off x="502920" y="36484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gate: 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02920" y="3895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of the 38 tests fail, the pipeline stops. Nothing deploys until green.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365760" y="4334256"/>
            <a:ext cx="39319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502920" y="43982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02920" y="4645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~2 minutes. Docker layer caching keeps builds fast.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663440" y="2834640"/>
            <a:ext cx="39319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4800600" y="2898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Identity: 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4800600" y="3145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long-lived secrets. GitHub gets a short-lived GCP token per run via OIDC.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4663440" y="3584448"/>
            <a:ext cx="39319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0" name="Text 32"/>
          <p:cNvSpPr/>
          <p:nvPr/>
        </p:nvSpPr>
        <p:spPr>
          <a:xfrm>
            <a:off x="4800600" y="36484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versioning: 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4800600" y="3895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tagged with the git SHA — any version is one command to roll back to.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663440" y="4334256"/>
            <a:ext cx="39319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3" name="Text 35"/>
          <p:cNvSpPr/>
          <p:nvPr/>
        </p:nvSpPr>
        <p:spPr>
          <a:xfrm>
            <a:off x="4800600" y="43982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infrastructure: 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4800600" y="4645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GitHub-hosted runners have Docker pre-installed. No CI servers to manage.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4: Cloud Run Deployment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B893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716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53619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53619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53619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13716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95160" y="153619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12848" y="1828800"/>
            <a:ext cx="329184" cy="0"/>
          </a:xfrm>
          <a:prstGeom prst="line">
            <a:avLst/>
          </a:prstGeom>
          <a:noFill/>
          <a:ln w="25400">
            <a:solidFill>
              <a:srgbClr val="B893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1554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0BB"/>
                </a:solidFill>
              </a:rPr>
              <a:t>push image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07408" y="1828800"/>
            <a:ext cx="329184" cy="0"/>
          </a:xfrm>
          <a:prstGeom prst="line">
            <a:avLst/>
          </a:prstGeom>
          <a:noFill/>
          <a:ln w="25400">
            <a:solidFill>
              <a:srgbClr val="B893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1554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0BB"/>
                </a:solidFill>
              </a:rPr>
              <a:t>deploy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01968" y="1828800"/>
            <a:ext cx="329184" cy="0"/>
          </a:xfrm>
          <a:prstGeom prst="line">
            <a:avLst/>
          </a:prstGeom>
          <a:noFill/>
          <a:ln w="25400">
            <a:solidFill>
              <a:srgbClr val="B893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54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0BB"/>
                </a:solidFill>
              </a:rPr>
              <a:t>connect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642616"/>
            <a:ext cx="164592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606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--no-allow-unauthenticated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285292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is IAM-only — not publicly accessible. Reach it via gcloud proxy.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145536"/>
            <a:ext cx="164592" cy="32004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108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--min-instances=0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35584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zero when idle. Zero cost when no traffic. Scales up automatically.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48456"/>
            <a:ext cx="164592" cy="3200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611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--max-instances=10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85876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ceiling protects against runaway cost from traffic spikes or DDoS.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151376"/>
            <a:ext cx="164592" cy="3200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114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SPRING_PROFILES_ACTIVE=dev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36168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injected at deploy time — no secrets in code or Docker images.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654296"/>
            <a:ext cx="164592" cy="320040"/>
          </a:xfrm>
          <a:prstGeom prst="rect">
            <a:avLst/>
          </a:prstGeom>
          <a:solidFill>
            <a:srgbClr val="B8935A"/>
          </a:solidFill>
          <a:ln w="12700">
            <a:solidFill>
              <a:srgbClr val="B893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617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 Federation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86460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JSON key files. Short-lived OIDC tokens only. Industry best practice.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9FB0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5331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0972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long-lived credentials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24128" y="1408176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 Federation replaces JSON key files. GitHub gets a short-lived OIDC token scoped to a single workflow run — it expires automatically.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4114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35331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13248" y="10972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in code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13248" y="1408176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MONGODB_URI, API keys, and tokens live in GitHub Secrets. They are injected at runtime and never appear in logs, images, or git history.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2331720"/>
            <a:ext cx="4114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67919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4128" y="24231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container user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24128" y="2734056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Docker image runs as a dedicated non-root appuser. A container escape gives an attacker an unprivileged shell, not root access.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2331720"/>
            <a:ext cx="4114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67919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13248" y="24231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IAM-only dev environment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413248" y="2734056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--no-allow-unauthenticated means the dev Cloud Run service has no public URL. Access requires an authenticated GCP identity with run.invoker role.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65760" y="3657600"/>
            <a:ext cx="4114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005072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24128" y="37490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runtime image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024128" y="4059936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image uses eclipse-temurin:21-jre — not the JDK. No compiler, no Maven, no source code. Smaller attack surface, smaller image.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754880" y="3657600"/>
            <a:ext cx="4114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4005072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13248" y="37490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URL-encode special chars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413248" y="4059936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with @ : / ? # in MongoDB connection strings must be percent-encoded. @ → %40. Failure to encode causes silent auth failures.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Flow: Code to Production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B893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51560"/>
            <a:ext cx="914400" cy="914400"/>
          </a:xfrm>
          <a:prstGeom prst="ellipse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527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0391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350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code to main branch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74520" y="1508760"/>
            <a:ext cx="566928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1051560"/>
            <a:ext cx="914400" cy="9144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63240" y="12527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14600" y="20391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triggers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2350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starts automatically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0" y="1508760"/>
            <a:ext cx="566928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1051560"/>
            <a:ext cx="914400" cy="91440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12527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20391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tests run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350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 against real MongoDB container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508760"/>
            <a:ext cx="566928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60920" y="1051560"/>
            <a:ext cx="914400" cy="9144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60920" y="12527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12280" y="20391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built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2350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packages the Spring Boot app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14400" y="2880360"/>
            <a:ext cx="914400" cy="9144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30815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65760" y="3867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built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178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 build produces lean image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74520" y="3337560"/>
            <a:ext cx="566928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63240" y="2880360"/>
            <a:ext cx="914400" cy="91440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63240" y="30815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2514600" y="3867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pushed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14600" y="4178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with git SHA to Artifact Registry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023360" y="3337560"/>
            <a:ext cx="566928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12080" y="2880360"/>
            <a:ext cx="914400" cy="914400"/>
          </a:xfrm>
          <a:prstGeom prst="ellipse">
            <a:avLst/>
          </a:prstGeom>
          <a:solidFill>
            <a:srgbClr val="B8935A"/>
          </a:solidFill>
          <a:ln w="12700">
            <a:solidFill>
              <a:srgbClr val="B893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212080" y="30815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4663440" y="3867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63440" y="4178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gcloud run deploy with new image SHA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72200" y="3337560"/>
            <a:ext cx="566928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60920" y="2880360"/>
            <a:ext cx="914400" cy="91440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60920" y="30815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6812280" y="3867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~2min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12280" y="4178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swap, old revision kept for rollback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from git push to live: ~2 minutes · Zero manual steps · Full audit trail via git SHA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Lessons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9FB0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34440"/>
            <a:ext cx="493776" cy="493776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34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05156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reality, not mocks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78992" y="1362456"/>
            <a:ext cx="3273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runs your tests against a real MongoDB instance. Mocking the database hides real-world behaviors like timestamp precision truncation.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234440"/>
            <a:ext cx="493776" cy="49377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34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68112" y="105156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hard-won debugging lessons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68112" y="1362456"/>
            <a:ext cx="3273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+ Docker Engine API version incompatibility, singleton container pattern, URL-encoding in connection strings — all documented so no future session re-debugs the same issue.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114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2560320"/>
            <a:ext cx="493776" cy="493776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5603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237744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constraints drive better design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78992" y="2688336"/>
            <a:ext cx="3273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 policy blocking JSON key creation forced Workload Identity Federation — a genuinely more secure approach than the original plan.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114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560320"/>
            <a:ext cx="493776" cy="49377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5603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68112" y="237744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 scales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68112" y="2688336"/>
            <a:ext cx="3273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separate domains (people/profile/consent/traffic/contact), each with its own model/repo/service/tests. Each one independently testable, replaceable, and understandable.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114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3886200"/>
            <a:ext cx="493776" cy="493776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886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78992" y="370332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parity eliminates surprises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78992" y="4014216"/>
            <a:ext cx="3273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Docker image runs locally, in CI, and in production. No more 'works on my machine' — the container IS the machine.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14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3886200"/>
            <a:ext cx="493776" cy="493776"/>
          </a:xfrm>
          <a:prstGeom prst="ellipse">
            <a:avLst/>
          </a:prstGeom>
          <a:solidFill>
            <a:srgbClr val="B8935A"/>
          </a:solidFill>
          <a:ln w="12700">
            <a:solidFill>
              <a:srgbClr val="B893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886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68112" y="370332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undifferentiated heavy lifting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68112" y="4014216"/>
            <a:ext cx="3273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 is identical, auditable, and reversible via git SHA. Engineers spend time on features, not release ceremonies.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935A"/>
          </a:solidFill>
          <a:ln w="12700">
            <a:solidFill>
              <a:srgbClr val="B893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B8935A"/>
          </a:solidFill>
          <a:ln w="12700">
            <a:solidFill>
              <a:srgbClr val="B893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Code to Cloud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B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Automatically. Reliably. Repeatably.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2423160"/>
            <a:ext cx="4572000" cy="0"/>
          </a:xfrm>
          <a:prstGeom prst="line">
            <a:avLst/>
          </a:prstGeom>
          <a:noFill/>
          <a:ln w="12700">
            <a:solidFill>
              <a:srgbClr val="5B6B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38 automated tests · Zero manual release steps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0906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Multi-stage Docker build · Non-root, minimal runtime image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5295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 Actions CI/CD · Workload Identity Federation (no JSON keys)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96849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Cloud Run · MongoDB Atlas · Scale to zero · SHA-tagged rollback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Overview · Modern Backend Engineering Series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Backend Engineering: CI/CD, Containers &amp; Cloud</dc:title>
  <dc:subject>PptxGenJS Presentation</dc:subject>
  <dc:creator>PptxGenJS</dc:creator>
  <cp:lastModifiedBy>PptxGenJS</cp:lastModifiedBy>
  <cp:revision>1</cp:revision>
  <dcterms:created xsi:type="dcterms:W3CDTF">2026-07-02T21:49:05Z</dcterms:created>
  <dcterms:modified xsi:type="dcterms:W3CDTF">2026-07-02T21:49:05Z</dcterms:modified>
</cp:coreProperties>
</file>